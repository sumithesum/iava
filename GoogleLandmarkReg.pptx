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1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2DA7-3A4F-4030-A55D-B436D21ADB32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B9505-F593-4AF8-B264-308B89098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279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2DA7-3A4F-4030-A55D-B436D21ADB32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B9505-F593-4AF8-B264-308B89098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564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2DA7-3A4F-4030-A55D-B436D21ADB32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B9505-F593-4AF8-B264-308B89098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6367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2DA7-3A4F-4030-A55D-B436D21ADB32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B9505-F593-4AF8-B264-308B89098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834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2DA7-3A4F-4030-A55D-B436D21ADB32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B9505-F593-4AF8-B264-308B89098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158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2DA7-3A4F-4030-A55D-B436D21ADB32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B9505-F593-4AF8-B264-308B89098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8891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2DA7-3A4F-4030-A55D-B436D21ADB32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B9505-F593-4AF8-B264-308B89098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9477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2DA7-3A4F-4030-A55D-B436D21ADB32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B9505-F593-4AF8-B264-308B89098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664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2DA7-3A4F-4030-A55D-B436D21ADB32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B9505-F593-4AF8-B264-308B89098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538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ine panoramică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2DA7-3A4F-4030-A55D-B436D21ADB32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B9505-F593-4AF8-B264-308B89098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487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2DA7-3A4F-4030-A55D-B436D21ADB32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B9505-F593-4AF8-B264-308B89098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733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2DA7-3A4F-4030-A55D-B436D21ADB32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B9505-F593-4AF8-B264-308B890988CF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7598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2DA7-3A4F-4030-A55D-B436D21ADB32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B9505-F593-4AF8-B264-308B89098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631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2DA7-3A4F-4030-A55D-B436D21ADB32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B9505-F593-4AF8-B264-308B89098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6816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ană cu trei i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2DA7-3A4F-4030-A55D-B436D21ADB32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B9505-F593-4AF8-B264-308B89098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2498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2DA7-3A4F-4030-A55D-B436D21ADB32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B9505-F593-4AF8-B264-308B89098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23945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2DA7-3A4F-4030-A55D-B436D21ADB32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B9505-F593-4AF8-B264-308B89098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511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2392DA7-3A4F-4030-A55D-B436D21ADB32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6AB9505-F593-4AF8-B264-308B89098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372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0258899-26A4-4F93-A8AF-9448B7E8C1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Google Landmark Recognition</a:t>
            </a:r>
            <a:br>
              <a:rPr lang="en-GB" dirty="0"/>
            </a:br>
            <a:r>
              <a:rPr lang="en-GB" dirty="0"/>
              <a:t>Challenge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FB70680C-709C-466F-B727-AC8FE3FD20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GB" dirty="0"/>
              <a:t>De </a:t>
            </a:r>
            <a:r>
              <a:rPr lang="en-GB" dirty="0" err="1"/>
              <a:t>Sumurduc</a:t>
            </a:r>
            <a:r>
              <a:rPr lang="en-GB" dirty="0"/>
              <a:t> </a:t>
            </a:r>
            <a:r>
              <a:rPr lang="en-GB" dirty="0" err="1"/>
              <a:t>Alexndru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836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46ED55B-F01E-405D-A565-EC6738F21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Prezentare</a:t>
            </a:r>
            <a:r>
              <a:rPr lang="en-GB" dirty="0"/>
              <a:t> pe </a:t>
            </a:r>
            <a:r>
              <a:rPr lang="en-GB" dirty="0" err="1"/>
              <a:t>scurt</a:t>
            </a:r>
            <a:endParaRPr lang="en-GB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0396A214-49E0-40C3-9698-497674C74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Mi-am </a:t>
            </a:r>
            <a:r>
              <a:rPr lang="en-GB" dirty="0" err="1"/>
              <a:t>dorit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abordez</a:t>
            </a:r>
            <a:r>
              <a:rPr lang="en-GB" dirty="0"/>
              <a:t> </a:t>
            </a:r>
            <a:r>
              <a:rPr lang="en-GB" dirty="0" err="1"/>
              <a:t>acest</a:t>
            </a:r>
            <a:r>
              <a:rPr lang="en-GB" dirty="0"/>
              <a:t> challenge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construiesc</a:t>
            </a:r>
            <a:r>
              <a:rPr lang="en-GB" dirty="0"/>
              <a:t> un </a:t>
            </a:r>
            <a:r>
              <a:rPr lang="en-GB" dirty="0" err="1"/>
              <a:t>sistem</a:t>
            </a:r>
            <a:r>
              <a:rPr lang="en-GB" dirty="0"/>
              <a:t> performant, </a:t>
            </a:r>
            <a:r>
              <a:rPr lang="en-GB" dirty="0" err="1"/>
              <a:t>însă</a:t>
            </a:r>
            <a:r>
              <a:rPr lang="en-GB" dirty="0"/>
              <a:t> am </a:t>
            </a:r>
            <a:r>
              <a:rPr lang="en-GB" dirty="0" err="1"/>
              <a:t>realizat</a:t>
            </a:r>
            <a:r>
              <a:rPr lang="en-GB" dirty="0"/>
              <a:t> </a:t>
            </a:r>
            <a:r>
              <a:rPr lang="en-GB" dirty="0" err="1"/>
              <a:t>că</a:t>
            </a:r>
            <a:r>
              <a:rPr lang="en-GB" dirty="0"/>
              <a:t> </a:t>
            </a:r>
            <a:r>
              <a:rPr lang="en-GB" dirty="0" err="1"/>
              <a:t>dezvoltarea</a:t>
            </a:r>
            <a:r>
              <a:rPr lang="en-GB" dirty="0"/>
              <a:t> </a:t>
            </a:r>
            <a:r>
              <a:rPr lang="en-GB" dirty="0" err="1"/>
              <a:t>unei</a:t>
            </a:r>
            <a:r>
              <a:rPr lang="en-GB" dirty="0"/>
              <a:t> </a:t>
            </a:r>
            <a:r>
              <a:rPr lang="en-GB" dirty="0" err="1"/>
              <a:t>soluții</a:t>
            </a:r>
            <a:r>
              <a:rPr lang="en-GB" dirty="0"/>
              <a:t> complete </a:t>
            </a:r>
            <a:r>
              <a:rPr lang="en-GB" dirty="0" err="1"/>
              <a:t>implică</a:t>
            </a:r>
            <a:r>
              <a:rPr lang="en-GB" dirty="0"/>
              <a:t> un </a:t>
            </a:r>
            <a:r>
              <a:rPr lang="en-GB" dirty="0" err="1"/>
              <a:t>efort</a:t>
            </a:r>
            <a:r>
              <a:rPr lang="en-GB" dirty="0"/>
              <a:t> </a:t>
            </a:r>
            <a:r>
              <a:rPr lang="en-GB" dirty="0" err="1"/>
              <a:t>considerabil</a:t>
            </a:r>
            <a:r>
              <a:rPr lang="en-GB" dirty="0"/>
              <a:t>, </a:t>
            </a:r>
            <a:r>
              <a:rPr lang="en-GB" dirty="0" err="1"/>
              <a:t>peste</a:t>
            </a:r>
            <a:r>
              <a:rPr lang="en-GB" dirty="0"/>
              <a:t> </a:t>
            </a:r>
            <a:r>
              <a:rPr lang="en-GB" dirty="0" err="1"/>
              <a:t>resursele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timpul</a:t>
            </a:r>
            <a:r>
              <a:rPr lang="en-GB" dirty="0"/>
              <a:t> de care </a:t>
            </a:r>
            <a:r>
              <a:rPr lang="en-GB" dirty="0" err="1"/>
              <a:t>dispun</a:t>
            </a:r>
            <a:r>
              <a:rPr lang="en-GB" dirty="0"/>
              <a:t>.</a:t>
            </a:r>
          </a:p>
          <a:p>
            <a:r>
              <a:rPr lang="en-GB" dirty="0"/>
              <a:t>Din </a:t>
            </a:r>
            <a:r>
              <a:rPr lang="en-GB" dirty="0" err="1"/>
              <a:t>acest</a:t>
            </a:r>
            <a:r>
              <a:rPr lang="en-GB" dirty="0"/>
              <a:t> </a:t>
            </a:r>
            <a:r>
              <a:rPr lang="en-GB" dirty="0" err="1"/>
              <a:t>motiv</a:t>
            </a:r>
            <a:r>
              <a:rPr lang="en-GB" dirty="0"/>
              <a:t>, am ales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mă</a:t>
            </a:r>
            <a:r>
              <a:rPr lang="en-GB" dirty="0"/>
              <a:t> </a:t>
            </a:r>
            <a:r>
              <a:rPr lang="en-GB" dirty="0" err="1"/>
              <a:t>concentrez</a:t>
            </a:r>
            <a:r>
              <a:rPr lang="en-GB" dirty="0"/>
              <a:t> pe </a:t>
            </a:r>
            <a:r>
              <a:rPr lang="en-GB" dirty="0" err="1"/>
              <a:t>două</a:t>
            </a:r>
            <a:r>
              <a:rPr lang="en-GB" dirty="0"/>
              <a:t> </a:t>
            </a:r>
            <a:r>
              <a:rPr lang="en-GB" dirty="0" err="1"/>
              <a:t>modele</a:t>
            </a:r>
            <a:r>
              <a:rPr lang="en-GB" dirty="0"/>
              <a:t> </a:t>
            </a:r>
            <a:r>
              <a:rPr lang="en-GB" dirty="0" err="1"/>
              <a:t>predefinite</a:t>
            </a:r>
            <a:r>
              <a:rPr lang="en-GB" dirty="0"/>
              <a:t> — ResNet-50 </a:t>
            </a:r>
            <a:r>
              <a:rPr lang="en-GB" dirty="0" err="1"/>
              <a:t>și</a:t>
            </a:r>
            <a:r>
              <a:rPr lang="en-GB" dirty="0"/>
              <a:t> VGG-16 — pe care le-am </a:t>
            </a:r>
            <a:r>
              <a:rPr lang="en-GB" dirty="0" err="1"/>
              <a:t>antrenat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testat</a:t>
            </a:r>
            <a:r>
              <a:rPr lang="en-GB" dirty="0"/>
              <a:t> pe un subset din date, </a:t>
            </a:r>
            <a:r>
              <a:rPr lang="en-GB" dirty="0" err="1"/>
              <a:t>pentru</a:t>
            </a:r>
            <a:r>
              <a:rPr lang="en-GB" dirty="0"/>
              <a:t> a le </a:t>
            </a:r>
            <a:r>
              <a:rPr lang="en-GB" dirty="0" err="1"/>
              <a:t>compara</a:t>
            </a:r>
            <a:r>
              <a:rPr lang="en-GB" dirty="0"/>
              <a:t> </a:t>
            </a:r>
            <a:r>
              <a:rPr lang="en-GB" dirty="0" err="1"/>
              <a:t>performanțele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comportamentul</a:t>
            </a:r>
            <a:r>
              <a:rPr lang="en-GB" dirty="0"/>
              <a:t>.</a:t>
            </a:r>
          </a:p>
          <a:p>
            <a:r>
              <a:rPr lang="en-GB" dirty="0"/>
              <a:t>Pe </a:t>
            </a:r>
            <a:r>
              <a:rPr lang="en-GB" dirty="0" err="1"/>
              <a:t>viitor</a:t>
            </a:r>
            <a:r>
              <a:rPr lang="en-GB" dirty="0"/>
              <a:t> , </a:t>
            </a:r>
            <a:r>
              <a:rPr lang="en-GB" dirty="0" err="1"/>
              <a:t>îmbunătățirea</a:t>
            </a:r>
            <a:r>
              <a:rPr lang="en-GB" dirty="0"/>
              <a:t> </a:t>
            </a:r>
            <a:r>
              <a:rPr lang="en-GB" dirty="0" err="1"/>
              <a:t>sistemelor</a:t>
            </a:r>
            <a:r>
              <a:rPr lang="en-GB" dirty="0"/>
              <a:t> </a:t>
            </a:r>
            <a:r>
              <a:rPr lang="en-GB" dirty="0" err="1"/>
              <a:t>prin</a:t>
            </a:r>
            <a:r>
              <a:rPr lang="en-GB" dirty="0"/>
              <a:t> </a:t>
            </a:r>
            <a:r>
              <a:rPr lang="en-GB" dirty="0" err="1"/>
              <a:t>antrenarea</a:t>
            </a:r>
            <a:r>
              <a:rPr lang="en-GB" dirty="0"/>
              <a:t> pe un set </a:t>
            </a:r>
            <a:r>
              <a:rPr lang="en-GB" dirty="0" err="1"/>
              <a:t>mai</a:t>
            </a:r>
            <a:r>
              <a:rPr lang="en-GB" dirty="0"/>
              <a:t> mare de date , cu un </a:t>
            </a:r>
            <a:r>
              <a:rPr lang="en-GB" dirty="0" err="1"/>
              <a:t>numar</a:t>
            </a:r>
            <a:r>
              <a:rPr lang="en-GB" dirty="0"/>
              <a:t> </a:t>
            </a:r>
            <a:r>
              <a:rPr lang="en-GB" dirty="0" err="1"/>
              <a:t>mai</a:t>
            </a:r>
            <a:r>
              <a:rPr lang="en-GB" dirty="0"/>
              <a:t> mare de </a:t>
            </a:r>
            <a:r>
              <a:rPr lang="en-GB" dirty="0" err="1"/>
              <a:t>epoci</a:t>
            </a:r>
            <a:r>
              <a:rPr lang="en-GB" dirty="0"/>
              <a:t> </a:t>
            </a:r>
            <a:r>
              <a:rPr lang="en-GB" dirty="0" err="1"/>
              <a:t>precat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abordarea</a:t>
            </a:r>
            <a:r>
              <a:rPr lang="en-GB" dirty="0"/>
              <a:t> </a:t>
            </a:r>
            <a:r>
              <a:rPr lang="en-GB" dirty="0" err="1"/>
              <a:t>unor</a:t>
            </a:r>
            <a:r>
              <a:rPr lang="en-GB" dirty="0"/>
              <a:t> </a:t>
            </a:r>
            <a:r>
              <a:rPr lang="en-GB" dirty="0" err="1"/>
              <a:t>modalitati</a:t>
            </a:r>
            <a:r>
              <a:rPr lang="en-GB" dirty="0"/>
              <a:t> de fine-tuning.</a:t>
            </a:r>
          </a:p>
        </p:txBody>
      </p:sp>
    </p:spTree>
    <p:extLst>
      <p:ext uri="{BB962C8B-B14F-4D97-AF65-F5344CB8AC3E}">
        <p14:creationId xmlns:p14="http://schemas.microsoft.com/office/powerpoint/2010/main" val="3645984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6BC861F-0EF9-4665-9443-C42D31311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58966"/>
            <a:ext cx="10353762" cy="970450"/>
          </a:xfrm>
        </p:spPr>
        <p:txBody>
          <a:bodyPr/>
          <a:lstStyle/>
          <a:p>
            <a:r>
              <a:rPr lang="en-GB" dirty="0"/>
              <a:t>ResNet50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4FD12D80-795F-4F82-A3F8-218F250DB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148157"/>
            <a:ext cx="10353762" cy="5355772"/>
          </a:xfrm>
        </p:spPr>
        <p:txBody>
          <a:bodyPr>
            <a:normAutofit/>
          </a:bodyPr>
          <a:lstStyle/>
          <a:p>
            <a:r>
              <a:rPr lang="en-GB" dirty="0" err="1">
                <a:effectLst/>
              </a:rPr>
              <a:t>ResNet</a:t>
            </a:r>
            <a:r>
              <a:rPr lang="en-GB" dirty="0"/>
              <a:t> </a:t>
            </a:r>
            <a:r>
              <a:rPr lang="en-GB" dirty="0" err="1"/>
              <a:t>este</a:t>
            </a:r>
            <a:r>
              <a:rPr lang="en-GB" dirty="0"/>
              <a:t> o </a:t>
            </a:r>
            <a:r>
              <a:rPr lang="en-GB" dirty="0" err="1"/>
              <a:t>rețea</a:t>
            </a:r>
            <a:r>
              <a:rPr lang="en-GB" dirty="0"/>
              <a:t> </a:t>
            </a:r>
            <a:r>
              <a:rPr lang="en-GB" dirty="0" err="1">
                <a:effectLst/>
              </a:rPr>
              <a:t>foarte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adâncă</a:t>
            </a:r>
            <a:r>
              <a:rPr lang="en-GB" dirty="0">
                <a:effectLst/>
              </a:rPr>
              <a:t> </a:t>
            </a:r>
            <a:r>
              <a:rPr lang="en-GB" dirty="0"/>
              <a:t>care </a:t>
            </a:r>
            <a:r>
              <a:rPr lang="en-GB" dirty="0" err="1"/>
              <a:t>folosește</a:t>
            </a:r>
            <a:r>
              <a:rPr lang="en-GB" dirty="0"/>
              <a:t> un </a:t>
            </a:r>
            <a:r>
              <a:rPr lang="en-GB" dirty="0" err="1"/>
              <a:t>principiu</a:t>
            </a:r>
            <a:r>
              <a:rPr lang="en-GB" dirty="0"/>
              <a:t> </a:t>
            </a:r>
            <a:r>
              <a:rPr lang="en-GB" dirty="0" err="1"/>
              <a:t>simplu</a:t>
            </a:r>
            <a:r>
              <a:rPr lang="en-GB" dirty="0"/>
              <a:t>, </a:t>
            </a:r>
            <a:r>
              <a:rPr lang="en-GB" dirty="0" err="1"/>
              <a:t>dar</a:t>
            </a:r>
            <a:r>
              <a:rPr lang="en-GB" dirty="0"/>
              <a:t> </a:t>
            </a:r>
            <a:r>
              <a:rPr lang="en-GB" dirty="0" err="1"/>
              <a:t>extrem</a:t>
            </a:r>
            <a:r>
              <a:rPr lang="en-GB" dirty="0"/>
              <a:t> de </a:t>
            </a:r>
            <a:r>
              <a:rPr lang="en-GB" dirty="0" err="1"/>
              <a:t>puternic</a:t>
            </a:r>
            <a:r>
              <a:rPr lang="en-GB" dirty="0"/>
              <a:t>,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loc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învețe</a:t>
            </a:r>
            <a:r>
              <a:rPr lang="en-GB" dirty="0"/>
              <a:t> direct o </a:t>
            </a:r>
            <a:r>
              <a:rPr lang="en-GB" dirty="0" err="1"/>
              <a:t>mapare</a:t>
            </a:r>
            <a:r>
              <a:rPr lang="en-GB" dirty="0"/>
              <a:t> </a:t>
            </a:r>
            <a:r>
              <a:rPr lang="en-GB" dirty="0" err="1"/>
              <a:t>complicata</a:t>
            </a:r>
            <a:r>
              <a:rPr lang="en-GB" dirty="0"/>
              <a:t> H(X) , </a:t>
            </a:r>
            <a:r>
              <a:rPr lang="en-GB" dirty="0" err="1"/>
              <a:t>învață</a:t>
            </a:r>
            <a:r>
              <a:rPr lang="en-GB" dirty="0"/>
              <a:t> </a:t>
            </a:r>
            <a:r>
              <a:rPr lang="en-GB" dirty="0" err="1"/>
              <a:t>doar</a:t>
            </a:r>
            <a:r>
              <a:rPr lang="en-GB" dirty="0"/>
              <a:t> </a:t>
            </a:r>
            <a:r>
              <a:rPr lang="en-GB" dirty="0" err="1"/>
              <a:t>diferența</a:t>
            </a:r>
            <a:r>
              <a:rPr lang="en-GB" dirty="0"/>
              <a:t> (</a:t>
            </a:r>
            <a:r>
              <a:rPr lang="en-GB" dirty="0" err="1"/>
              <a:t>reziduul</a:t>
            </a:r>
            <a:r>
              <a:rPr lang="en-GB" dirty="0"/>
              <a:t>) </a:t>
            </a:r>
            <a:r>
              <a:rPr lang="en-GB" dirty="0" err="1"/>
              <a:t>față</a:t>
            </a:r>
            <a:r>
              <a:rPr lang="en-GB" dirty="0"/>
              <a:t> de </a:t>
            </a:r>
            <a:r>
              <a:rPr lang="en-GB" dirty="0" err="1"/>
              <a:t>intrare</a:t>
            </a:r>
            <a:r>
              <a:rPr lang="en-GB" dirty="0"/>
              <a:t> F(x) = H(x) – x</a:t>
            </a:r>
          </a:p>
          <a:p>
            <a:endParaRPr lang="en-GB" dirty="0"/>
          </a:p>
          <a:p>
            <a:r>
              <a:rPr lang="en-GB" dirty="0"/>
              <a:t>ResNet50 </a:t>
            </a:r>
            <a:r>
              <a:rPr lang="en-GB" dirty="0" err="1"/>
              <a:t>este</a:t>
            </a:r>
            <a:r>
              <a:rPr lang="en-GB" dirty="0"/>
              <a:t> o </a:t>
            </a:r>
            <a:r>
              <a:rPr lang="en-GB" dirty="0" err="1"/>
              <a:t>variantă</a:t>
            </a:r>
            <a:r>
              <a:rPr lang="en-GB" dirty="0"/>
              <a:t> de </a:t>
            </a:r>
            <a:r>
              <a:rPr lang="en-GB" dirty="0" err="1"/>
              <a:t>ResNet</a:t>
            </a:r>
            <a:r>
              <a:rPr lang="en-GB" dirty="0"/>
              <a:t> cu 50 de </a:t>
            </a:r>
            <a:r>
              <a:rPr lang="en-GB" dirty="0" err="1"/>
              <a:t>layere</a:t>
            </a:r>
            <a:r>
              <a:rPr lang="en-GB" dirty="0"/>
              <a:t> </a:t>
            </a:r>
            <a:r>
              <a:rPr lang="en-GB" dirty="0" err="1"/>
              <a:t>învățabile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1 </a:t>
            </a:r>
            <a:r>
              <a:rPr lang="en-GB" dirty="0" err="1"/>
              <a:t>convolutie</a:t>
            </a:r>
            <a:r>
              <a:rPr lang="en-GB" dirty="0"/>
              <a:t> </a:t>
            </a:r>
            <a:r>
              <a:rPr lang="en-GB" dirty="0" err="1"/>
              <a:t>initiala</a:t>
            </a:r>
            <a:endParaRPr lang="en-GB" dirty="0"/>
          </a:p>
          <a:p>
            <a:pPr lvl="1"/>
            <a:r>
              <a:rPr lang="en-GB" dirty="0"/>
              <a:t>1 fully </a:t>
            </a:r>
            <a:r>
              <a:rPr lang="en-GB" dirty="0" err="1"/>
              <a:t>conncected</a:t>
            </a:r>
            <a:r>
              <a:rPr lang="en-GB" dirty="0"/>
              <a:t> layer</a:t>
            </a:r>
          </a:p>
          <a:p>
            <a:pPr lvl="1"/>
            <a:r>
              <a:rPr lang="en-GB" dirty="0"/>
              <a:t>4 </a:t>
            </a:r>
            <a:r>
              <a:rPr lang="en-GB" dirty="0" err="1"/>
              <a:t>stagi</a:t>
            </a:r>
            <a:r>
              <a:rPr lang="en-GB" dirty="0"/>
              <a:t>:</a:t>
            </a:r>
          </a:p>
          <a:p>
            <a:pPr lvl="2"/>
            <a:r>
              <a:rPr lang="en-GB" dirty="0"/>
              <a:t>S1: 3 </a:t>
            </a:r>
            <a:r>
              <a:rPr lang="en-GB" dirty="0" err="1"/>
              <a:t>blocuri</a:t>
            </a:r>
            <a:endParaRPr lang="en-GB" dirty="0"/>
          </a:p>
          <a:p>
            <a:pPr lvl="2"/>
            <a:r>
              <a:rPr lang="en-GB" dirty="0"/>
              <a:t>S2: 4 </a:t>
            </a:r>
            <a:r>
              <a:rPr lang="en-GB" dirty="0" err="1"/>
              <a:t>blocuri</a:t>
            </a:r>
            <a:endParaRPr lang="en-GB" dirty="0"/>
          </a:p>
          <a:p>
            <a:pPr lvl="2"/>
            <a:r>
              <a:rPr lang="en-GB" dirty="0"/>
              <a:t>S3: 6 </a:t>
            </a:r>
            <a:r>
              <a:rPr lang="en-GB" dirty="0" err="1"/>
              <a:t>blocuri</a:t>
            </a:r>
            <a:endParaRPr lang="en-GB" dirty="0"/>
          </a:p>
          <a:p>
            <a:pPr lvl="2"/>
            <a:r>
              <a:rPr lang="en-GB" dirty="0"/>
              <a:t>S4: 3 </a:t>
            </a:r>
            <a:r>
              <a:rPr lang="en-GB" dirty="0" err="1"/>
              <a:t>blocuri</a:t>
            </a:r>
            <a:endParaRPr lang="en-GB" dirty="0"/>
          </a:p>
          <a:p>
            <a:pPr lvl="2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6999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49B4CC7-C0D2-4C3F-BEC4-E32E786ED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Vizualizare</a:t>
            </a:r>
            <a:r>
              <a:rPr lang="en-GB" dirty="0"/>
              <a:t> ResNet50</a:t>
            </a:r>
          </a:p>
        </p:txBody>
      </p:sp>
      <p:pic>
        <p:nvPicPr>
          <p:cNvPr id="2052" name="Picture 4" descr="The Annotated ResNet-50. Explaining how ResNet-50 works and why… | by  Suvaditya Mukherjee | TDS Archive | Medium">
            <a:extLst>
              <a:ext uri="{FF2B5EF4-FFF2-40B4-BE49-F238E27FC236}">
                <a16:creationId xmlns:a16="http://schemas.microsoft.com/office/drawing/2014/main" id="{9E15569A-9674-4210-A1C7-EBD17A987D0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022" y="1731963"/>
            <a:ext cx="9375955" cy="4059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0942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49DAF99-A477-4E56-A7AA-2F67F8F3F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10839"/>
            <a:ext cx="10353762" cy="970450"/>
          </a:xfrm>
        </p:spPr>
        <p:txBody>
          <a:bodyPr/>
          <a:lstStyle/>
          <a:p>
            <a:r>
              <a:rPr lang="en-GB" dirty="0"/>
              <a:t>VGG-16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6FFC01B-EB82-4087-BB04-31311336C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113682"/>
            <a:ext cx="10353762" cy="4058751"/>
          </a:xfrm>
        </p:spPr>
        <p:txBody>
          <a:bodyPr/>
          <a:lstStyle/>
          <a:p>
            <a:r>
              <a:rPr lang="en-GB" dirty="0" err="1"/>
              <a:t>Spre</a:t>
            </a:r>
            <a:r>
              <a:rPr lang="en-GB" dirty="0"/>
              <a:t> </a:t>
            </a:r>
            <a:r>
              <a:rPr lang="en-GB" dirty="0" err="1"/>
              <a:t>deosebire</a:t>
            </a:r>
            <a:r>
              <a:rPr lang="en-GB" dirty="0"/>
              <a:t> de </a:t>
            </a:r>
            <a:r>
              <a:rPr lang="en-GB" dirty="0" err="1"/>
              <a:t>modele</a:t>
            </a:r>
            <a:r>
              <a:rPr lang="en-GB" dirty="0"/>
              <a:t> </a:t>
            </a:r>
            <a:r>
              <a:rPr lang="en-GB" dirty="0" err="1"/>
              <a:t>mai</a:t>
            </a:r>
            <a:r>
              <a:rPr lang="en-GB" dirty="0"/>
              <a:t> complicate ca Inception </a:t>
            </a:r>
            <a:r>
              <a:rPr lang="en-GB" dirty="0" err="1"/>
              <a:t>sau</a:t>
            </a:r>
            <a:r>
              <a:rPr lang="en-GB" dirty="0"/>
              <a:t> </a:t>
            </a:r>
            <a:r>
              <a:rPr lang="en-GB" dirty="0" err="1"/>
              <a:t>ResNet</a:t>
            </a:r>
            <a:r>
              <a:rPr lang="en-GB" dirty="0"/>
              <a:t>, VGG </a:t>
            </a:r>
            <a:r>
              <a:rPr lang="en-GB" dirty="0" err="1"/>
              <a:t>folosește</a:t>
            </a:r>
            <a:r>
              <a:rPr lang="en-GB" dirty="0"/>
              <a:t> </a:t>
            </a:r>
            <a:r>
              <a:rPr lang="en-GB" dirty="0" err="1"/>
              <a:t>doar</a:t>
            </a:r>
            <a:r>
              <a:rPr lang="en-GB" dirty="0"/>
              <a:t> </a:t>
            </a:r>
            <a:r>
              <a:rPr lang="en-GB" dirty="0" err="1"/>
              <a:t>convoluții</a:t>
            </a:r>
            <a:r>
              <a:rPr lang="en-GB" dirty="0"/>
              <a:t> 3x3 </a:t>
            </a:r>
            <a:r>
              <a:rPr lang="en-GB" dirty="0" err="1"/>
              <a:t>repetate</a:t>
            </a:r>
            <a:r>
              <a:rPr lang="en-GB" dirty="0"/>
              <a:t>, într-o </a:t>
            </a:r>
            <a:r>
              <a:rPr lang="en-GB" dirty="0" err="1"/>
              <a:t>arhitectură</a:t>
            </a:r>
            <a:r>
              <a:rPr lang="en-GB" dirty="0"/>
              <a:t> </a:t>
            </a:r>
            <a:r>
              <a:rPr lang="en-GB" dirty="0" err="1">
                <a:effectLst/>
              </a:rPr>
              <a:t>simplă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și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profundă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dar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foarte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eficientă</a:t>
            </a:r>
            <a:r>
              <a:rPr lang="en-GB" dirty="0"/>
              <a:t>.</a:t>
            </a:r>
          </a:p>
          <a:p>
            <a:r>
              <a:rPr lang="en-GB" dirty="0" err="1"/>
              <a:t>Acesta</a:t>
            </a:r>
            <a:r>
              <a:rPr lang="en-GB" dirty="0"/>
              <a:t> </a:t>
            </a:r>
            <a:r>
              <a:rPr lang="en-GB" dirty="0" err="1"/>
              <a:t>contine</a:t>
            </a:r>
            <a:r>
              <a:rPr lang="en-GB" dirty="0"/>
              <a:t> 16 </a:t>
            </a:r>
            <a:r>
              <a:rPr lang="en-GB" dirty="0" err="1"/>
              <a:t>layere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13 </a:t>
            </a:r>
            <a:r>
              <a:rPr lang="en-GB" dirty="0" err="1"/>
              <a:t>Convolutii</a:t>
            </a:r>
            <a:endParaRPr lang="en-GB" dirty="0"/>
          </a:p>
          <a:p>
            <a:pPr lvl="1"/>
            <a:r>
              <a:rPr lang="en-GB" dirty="0"/>
              <a:t>3 </a:t>
            </a:r>
            <a:r>
              <a:rPr lang="en-GB" dirty="0" err="1"/>
              <a:t>layere</a:t>
            </a:r>
            <a:r>
              <a:rPr lang="en-GB" dirty="0"/>
              <a:t> fully </a:t>
            </a:r>
            <a:r>
              <a:rPr lang="en-GB" dirty="0" err="1"/>
              <a:t>conncected</a:t>
            </a:r>
            <a:endParaRPr lang="en-GB" dirty="0"/>
          </a:p>
        </p:txBody>
      </p:sp>
      <p:pic>
        <p:nvPicPr>
          <p:cNvPr id="3074" name="Picture 2" descr="VGG16 - Convolutional Network for Classification and Detection">
            <a:extLst>
              <a:ext uri="{FF2B5EF4-FFF2-40B4-BE49-F238E27FC236}">
                <a16:creationId xmlns:a16="http://schemas.microsoft.com/office/drawing/2014/main" id="{498EE711-8391-48E7-ABA4-079AC94BE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030" y="3107585"/>
            <a:ext cx="9439635" cy="3588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2488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2C63FC8-9B96-41F7-AD7E-761290B47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92722"/>
            <a:ext cx="10353762" cy="970450"/>
          </a:xfrm>
        </p:spPr>
        <p:txBody>
          <a:bodyPr/>
          <a:lstStyle/>
          <a:p>
            <a:r>
              <a:rPr lang="en-GB" dirty="0" err="1"/>
              <a:t>Antrenare</a:t>
            </a:r>
            <a:r>
              <a:rPr lang="en-GB" dirty="0"/>
              <a:t> ResNet50 (10000,32,20)</a:t>
            </a:r>
          </a:p>
        </p:txBody>
      </p:sp>
      <p:pic>
        <p:nvPicPr>
          <p:cNvPr id="5" name="Substituent conținut 4">
            <a:extLst>
              <a:ext uri="{FF2B5EF4-FFF2-40B4-BE49-F238E27FC236}">
                <a16:creationId xmlns:a16="http://schemas.microsoft.com/office/drawing/2014/main" id="{7393C613-F48E-418B-998F-80B0CE67B2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833" y="1525707"/>
            <a:ext cx="9777686" cy="4888843"/>
          </a:xfrm>
        </p:spPr>
      </p:pic>
    </p:spTree>
    <p:extLst>
      <p:ext uri="{BB962C8B-B14F-4D97-AF65-F5344CB8AC3E}">
        <p14:creationId xmlns:p14="http://schemas.microsoft.com/office/powerpoint/2010/main" val="178140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8F610FB-9FD0-44E2-8E19-0AED52537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Antrenare</a:t>
            </a:r>
            <a:r>
              <a:rPr lang="en-GB" dirty="0"/>
              <a:t> VGG-16(300,32,10)</a:t>
            </a:r>
          </a:p>
        </p:txBody>
      </p:sp>
      <p:pic>
        <p:nvPicPr>
          <p:cNvPr id="5" name="Substituent conținut 4">
            <a:extLst>
              <a:ext uri="{FF2B5EF4-FFF2-40B4-BE49-F238E27FC236}">
                <a16:creationId xmlns:a16="http://schemas.microsoft.com/office/drawing/2014/main" id="{E020C2E5-CD40-40A9-A139-B25E8842A3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00" y="1580050"/>
            <a:ext cx="9923952" cy="4961976"/>
          </a:xfrm>
        </p:spPr>
      </p:pic>
    </p:spTree>
    <p:extLst>
      <p:ext uri="{BB962C8B-B14F-4D97-AF65-F5344CB8AC3E}">
        <p14:creationId xmlns:p14="http://schemas.microsoft.com/office/powerpoint/2010/main" val="16199345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ezie">
  <a:themeElements>
    <a:clrScheme name="Ardezi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3EC26C"/>
      </a:accent1>
      <a:accent2>
        <a:srgbClr val="B3D463"/>
      </a:accent2>
      <a:accent3>
        <a:srgbClr val="3BBC9D"/>
      </a:accent3>
      <a:accent4>
        <a:srgbClr val="97AF75"/>
      </a:accent4>
      <a:accent5>
        <a:srgbClr val="6BA841"/>
      </a:accent5>
      <a:accent6>
        <a:srgbClr val="79AE90"/>
      </a:accent6>
      <a:hlink>
        <a:srgbClr val="85E4A6"/>
      </a:hlink>
      <a:folHlink>
        <a:srgbClr val="BDF3D0"/>
      </a:folHlink>
    </a:clrScheme>
    <a:fontScheme name="Ardezi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ezi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43372978-11FE-4814-AC26-BC300187D8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TM04033929[[fn=Ardezie]]</Template>
  <TotalTime>80</TotalTime>
  <Words>252</Words>
  <Application>Microsoft Office PowerPoint</Application>
  <PresentationFormat>Ecran lat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7</vt:i4>
      </vt:variant>
    </vt:vector>
  </HeadingPairs>
  <TitlesOfParts>
    <vt:vector size="11" baseType="lpstr">
      <vt:lpstr>Arial</vt:lpstr>
      <vt:lpstr>Calisto MT</vt:lpstr>
      <vt:lpstr>Wingdings 2</vt:lpstr>
      <vt:lpstr>Ardezie</vt:lpstr>
      <vt:lpstr>Google Landmark Recognition Challenge</vt:lpstr>
      <vt:lpstr>Prezentare pe scurt</vt:lpstr>
      <vt:lpstr>ResNet50</vt:lpstr>
      <vt:lpstr>Vizualizare ResNet50</vt:lpstr>
      <vt:lpstr>VGG-16</vt:lpstr>
      <vt:lpstr>Antrenare ResNet50 (10000,32,20)</vt:lpstr>
      <vt:lpstr>Antrenare VGG-16(300,32,10)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Landmark Recognition Challange</dc:title>
  <dc:creator>sumi thesum</dc:creator>
  <cp:lastModifiedBy>sumi thesum</cp:lastModifiedBy>
  <cp:revision>15</cp:revision>
  <dcterms:created xsi:type="dcterms:W3CDTF">2025-04-30T12:06:07Z</dcterms:created>
  <dcterms:modified xsi:type="dcterms:W3CDTF">2025-04-30T13:26:22Z</dcterms:modified>
</cp:coreProperties>
</file>